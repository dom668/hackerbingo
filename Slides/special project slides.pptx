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7" r:id="rId5"/>
    <p:sldId id="258" r:id="rId6"/>
    <p:sldId id="268" r:id="rId7"/>
    <p:sldId id="270" r:id="rId8"/>
    <p:sldId id="259" r:id="rId9"/>
    <p:sldId id="269" r:id="rId10"/>
    <p:sldId id="262" r:id="rId11"/>
    <p:sldId id="263" r:id="rId12"/>
    <p:sldId id="265" r:id="rId13"/>
    <p:sldId id="264" r:id="rId14"/>
    <p:sldId id="272" r:id="rId15"/>
    <p:sldId id="271" r:id="rId16"/>
    <p:sldId id="266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EB615-1BCB-964E-EEB7-F0A77F828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D1D12-C4EB-EC3C-AA65-7413F8ECC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F48B8-142B-80AF-2D61-4EFD1D718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FE7FD-1A71-48BA-9779-CB24C9E5229F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36EEB-E54A-61DD-88FD-1FB8F0C1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F3E55-D65A-A724-FE6E-CCA223414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1A867-C53D-467C-AA11-BA053E7AE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134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CBE27-7BA7-7F9A-592A-EAD56DA74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F2922-72D0-E673-96DA-BA6187296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E6E6E-487B-4911-E08C-B734F0E80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FE7FD-1A71-48BA-9779-CB24C9E5229F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24D17-B867-D5BD-CF3D-B01D3B56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14003-D048-71EB-C91B-362EED62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1A867-C53D-467C-AA11-BA053E7AE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338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DA58D-F031-41A2-B8B7-177C55F32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5F3F8-0C25-F49F-8962-AF2145A75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EF4B7-D025-87D8-AD2B-D394FEA20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FE7FD-1A71-48BA-9779-CB24C9E5229F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C65EF-B82C-8999-9E72-CB5F1189A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67606-76B0-AE63-90F7-5CD3BA412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1A867-C53D-467C-AA11-BA053E7AE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6816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755EF-7C68-3655-E17B-C4DB153F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ED8B0-52BF-1457-4C78-B7A77EBC3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C709E-F48D-22FA-8591-18F6015D5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255CE-672F-53DB-0869-10C5830E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FE7FD-1A71-48BA-9779-CB24C9E5229F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DF1E8-3E5A-8570-DF11-18AEBCC45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E4C0C-70B0-CDD7-1575-88D22CFA2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1A867-C53D-467C-AA11-BA053E7AE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9279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CF16B-39F9-BDFC-DC92-DD3312E7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E4FFD-376E-B91C-DF31-1735D3C04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76D9A-EEEB-1779-1ECC-546623772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93D43-B5DD-D33E-CC03-1DF09F612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7D0FE1-29E6-58D4-72D5-66A8485E6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DC2E46-4B22-AEA6-B14B-6F3270B10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FE7FD-1A71-48BA-9779-CB24C9E5229F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4037CB-C257-6442-B033-5BFA36665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5C9136-771A-9B4C-A577-A75528D6A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1A867-C53D-467C-AA11-BA053E7AE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476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97C8C-737D-5B27-BE03-CDDD735A4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C5B2B2-2875-5192-820E-6201418D0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FE7FD-1A71-48BA-9779-CB24C9E5229F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4EDA1-A6C3-54A8-3BEC-7530C7119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A00D4-62AC-1809-BA40-E7ABBCE2B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1A867-C53D-467C-AA11-BA053E7AE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5467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8B30A9-8708-AB3F-8AE0-1FF3AAE76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FE7FD-1A71-48BA-9779-CB24C9E5229F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5B007-A438-4E7A-0062-A525751F7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D8A15-5C03-FCDC-ED51-83C6CD97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1A867-C53D-467C-AA11-BA053E7AE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742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028C8-8B71-C7E5-004A-5B8403DA6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C9102-B4CB-1827-C5E2-55BCF937D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30B60-E925-95B3-4BF2-FCD104ED81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0AA00-D490-F2A2-0205-6216691AB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FE7FD-1A71-48BA-9779-CB24C9E5229F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ABBF1-F29A-23A7-8460-4F9E5D247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69A50-9888-7CFD-A77B-F5A0C4C6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1A867-C53D-467C-AA11-BA053E7AE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9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DEA31-FCF2-0B83-CAAA-FF4A16BE8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3EAA9-C252-7CC3-D118-827C3CD84D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0567E-E7CD-BD62-538C-CCBA303E9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F506B-356E-512A-DCBC-21DF607B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FE7FD-1A71-48BA-9779-CB24C9E5229F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0B9BB-EC4B-F99C-13B3-89B96BB23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87384-42AA-ABAB-85E4-4EF75BAB0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1A867-C53D-467C-AA11-BA053E7AE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35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E4E6-0FA3-4DF5-C413-E158DC1D5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BF028-C7FD-4BE6-2D22-41DBBB65E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1799A-B3AC-1D68-82AD-EF14C31C4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FE7FD-1A71-48BA-9779-CB24C9E5229F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EBF7E-E10F-8F46-793D-1622F0C60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014F4-FFE9-4836-BCCD-E617678C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1A867-C53D-467C-AA11-BA053E7AE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838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A3C42E-4BEF-F792-A52A-7A508F5A9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4077D-8BF4-D011-B8D9-129D8BD59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7C5E9-238F-09F1-A3DC-49CF97B3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FE7FD-1A71-48BA-9779-CB24C9E5229F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35DB7-257A-B276-1906-79BC4047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A742F-2BD9-66A2-AEAA-64E3E93C7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1A867-C53D-467C-AA11-BA053E7AE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625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537D93-A13C-2166-0F5B-B50A06AAE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26FD9-2CFE-1C5E-DF42-3C74D38C1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39151-B2D4-9825-E794-31DCFC850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EFE7FD-1A71-48BA-9779-CB24C9E5229F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D6DCF-E2E2-EDC1-904E-D24160BE3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49B41-F877-A69F-E7FD-C2300C0E4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41A867-C53D-467C-AA11-BA053E7AE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03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A179B-7FD8-DE73-30B7-1289AAE79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302" y="163720"/>
            <a:ext cx="11641395" cy="1360279"/>
          </a:xfrm>
        </p:spPr>
        <p:txBody>
          <a:bodyPr>
            <a:noAutofit/>
          </a:bodyPr>
          <a:lstStyle/>
          <a:p>
            <a:r>
              <a:rPr lang="en-GB" sz="4400" dirty="0"/>
              <a:t>Website security – through exploiting vulnerabilities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CCFEF-A2F2-27B7-B0A5-9CDE81697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67431"/>
            <a:ext cx="9144000" cy="277269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This is my special project for the ambassador module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I have created a website with deliberate vulnerabilities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There are four tasks to complete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/>
              <a:t>You cannot open the folder called “restricted” and you cannot use inspect element.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Please complete the “pre-lesson quiz”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D23F2A-1E62-941C-978A-24F4B086DE28}"/>
              </a:ext>
            </a:extLst>
          </p:cNvPr>
          <p:cNvSpPr txBox="1">
            <a:spLocks/>
          </p:cNvSpPr>
          <p:nvPr/>
        </p:nvSpPr>
        <p:spPr>
          <a:xfrm>
            <a:off x="1524000" y="1523999"/>
            <a:ext cx="9144000" cy="6980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/>
              <a:t>Special project</a:t>
            </a:r>
          </a:p>
        </p:txBody>
      </p:sp>
    </p:spTree>
    <p:extLst>
      <p:ext uri="{BB962C8B-B14F-4D97-AF65-F5344CB8AC3E}">
        <p14:creationId xmlns:p14="http://schemas.microsoft.com/office/powerpoint/2010/main" val="1800068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90344-F4DA-9935-7DD3-8019F30D1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One – Endpoints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82CB4-D80F-C4AB-D098-A023F617A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881136"/>
          </a:xfrm>
        </p:spPr>
        <p:txBody>
          <a:bodyPr>
            <a:normAutofit fontScale="92500" lnSpcReduction="10000"/>
          </a:bodyPr>
          <a:lstStyle/>
          <a:p>
            <a:r>
              <a:rPr lang="en-GB" sz="1800" dirty="0"/>
              <a:t>In web development, endpoints are specific URLs where a client (such as a browser or mobile app) interacts with a server to access resources or perform actions.</a:t>
            </a:r>
          </a:p>
          <a:p>
            <a:r>
              <a:rPr lang="en-GB" sz="1800" b="1" dirty="0"/>
              <a:t>Structure of an Endpoint</a:t>
            </a:r>
            <a:r>
              <a:rPr lang="en-GB" sz="1800" dirty="0"/>
              <a:t> typically includes:</a:t>
            </a:r>
          </a:p>
          <a:p>
            <a:r>
              <a:rPr lang="en-GB" sz="1800" b="1" dirty="0"/>
              <a:t>Base URL</a:t>
            </a:r>
            <a:r>
              <a:rPr lang="en-GB" sz="1800" dirty="0"/>
              <a:t> – root address of the API (e.g., https://api.example.com/)</a:t>
            </a:r>
          </a:p>
          <a:p>
            <a:r>
              <a:rPr lang="en-GB" sz="1800" b="1" dirty="0"/>
              <a:t>Path</a:t>
            </a:r>
            <a:r>
              <a:rPr lang="en-GB" sz="1800" dirty="0"/>
              <a:t> – identifies the resource or action (e.g., /users)</a:t>
            </a:r>
          </a:p>
          <a:p>
            <a:r>
              <a:rPr lang="en-GB" sz="1800" b="1" dirty="0"/>
              <a:t>Query Parameters</a:t>
            </a:r>
            <a:r>
              <a:rPr lang="en-GB" sz="1800" dirty="0"/>
              <a:t> – refine/filter results (e.g., ?page=2)</a:t>
            </a:r>
            <a:endParaRPr lang="en-GB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23F8D6-FBF2-234D-CA66-B312416720F5}"/>
              </a:ext>
            </a:extLst>
          </p:cNvPr>
          <p:cNvSpPr txBox="1">
            <a:spLocks/>
          </p:cNvSpPr>
          <p:nvPr/>
        </p:nvSpPr>
        <p:spPr>
          <a:xfrm>
            <a:off x="838200" y="4611739"/>
            <a:ext cx="10515600" cy="1881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These can be a security risk as without proper authorisation levels, users can manually change their URL to access restricted resources.</a:t>
            </a:r>
          </a:p>
          <a:p>
            <a:r>
              <a:rPr lang="en-GB" sz="1800" b="1" dirty="0"/>
              <a:t> Try to access the ‘stats’ page on the batwest website.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1317617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BC2D4-8C8C-5D35-0808-F1F9A97D3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1020"/>
            <a:ext cx="10515600" cy="1325563"/>
          </a:xfrm>
        </p:spPr>
        <p:txBody>
          <a:bodyPr/>
          <a:lstStyle/>
          <a:p>
            <a:r>
              <a:rPr lang="en-GB" dirty="0"/>
              <a:t>Reveal answer?</a:t>
            </a:r>
          </a:p>
        </p:txBody>
      </p:sp>
    </p:spTree>
    <p:extLst>
      <p:ext uri="{BB962C8B-B14F-4D97-AF65-F5344CB8AC3E}">
        <p14:creationId xmlns:p14="http://schemas.microsoft.com/office/powerpoint/2010/main" val="2222698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12FAA1-157C-1686-1CE4-E37187FBD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727" y="898382"/>
            <a:ext cx="8635810" cy="489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187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2DC14-EA77-40F4-7C38-3F5E5BB10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19503" cy="1325563"/>
          </a:xfrm>
        </p:spPr>
        <p:txBody>
          <a:bodyPr/>
          <a:lstStyle/>
          <a:p>
            <a:r>
              <a:rPr lang="en-GB" dirty="0"/>
              <a:t>Task Two – URL Parameters (Query parameters)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AC672-79DF-449D-C270-83DD687DA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URL parameters are extra pieces of information added to the end of a URL that tell a website how to customize the content, filter results, or track browsing sessions.</a:t>
            </a:r>
          </a:p>
          <a:p>
            <a:r>
              <a:rPr lang="en-GB" sz="1800" dirty="0"/>
              <a:t>URL parameters appear after a question mark (</a:t>
            </a:r>
            <a:r>
              <a:rPr lang="en-GB" sz="1800" b="1" dirty="0"/>
              <a:t>?</a:t>
            </a:r>
            <a:r>
              <a:rPr lang="en-GB" sz="1800" dirty="0"/>
              <a:t>) and include key-value pairs that are separated by one or more ampersands (&amp;).</a:t>
            </a:r>
          </a:p>
          <a:p>
            <a:r>
              <a:rPr lang="en-GB" sz="1800" dirty="0"/>
              <a:t>Just like Endpoints they can be manipulated to access hidden content.</a:t>
            </a:r>
          </a:p>
          <a:p>
            <a:r>
              <a:rPr lang="en-GB" sz="1800" b="1" dirty="0"/>
              <a:t>Try to access the batwest account that belongs to ‘charlie’.</a:t>
            </a:r>
          </a:p>
          <a:p>
            <a:r>
              <a:rPr lang="en-GB" sz="1800" b="1" dirty="0"/>
              <a:t>Try to access the hidden batwest investor info.</a:t>
            </a:r>
          </a:p>
        </p:txBody>
      </p:sp>
    </p:spTree>
    <p:extLst>
      <p:ext uri="{BB962C8B-B14F-4D97-AF65-F5344CB8AC3E}">
        <p14:creationId xmlns:p14="http://schemas.microsoft.com/office/powerpoint/2010/main" val="333264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EAA89-7D08-7661-5BA8-72CD05F1E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8E0B7-324D-26A6-510A-453186F35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1020"/>
            <a:ext cx="10515600" cy="1325563"/>
          </a:xfrm>
        </p:spPr>
        <p:txBody>
          <a:bodyPr/>
          <a:lstStyle/>
          <a:p>
            <a:r>
              <a:rPr lang="en-GB" dirty="0"/>
              <a:t>Reveal answer?</a:t>
            </a:r>
          </a:p>
        </p:txBody>
      </p:sp>
    </p:spTree>
    <p:extLst>
      <p:ext uri="{BB962C8B-B14F-4D97-AF65-F5344CB8AC3E}">
        <p14:creationId xmlns:p14="http://schemas.microsoft.com/office/powerpoint/2010/main" val="952739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17D43-F30D-7DDB-9195-52F7AC029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B62202-5D79-F273-53D5-BB2FEBDBA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27" y="74546"/>
            <a:ext cx="6370793" cy="33544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77EF9B-EE4D-F8BA-2916-5F4ACBBB1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335" y="3429000"/>
            <a:ext cx="7485072" cy="317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56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2B868-C37B-CF9B-2402-3B52503E9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Three – Form manipulation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08783-0CA4-9F56-CD28-DF1189D89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Forms will always be a vulnerability as they involve sending data from the user to the server. </a:t>
            </a:r>
          </a:p>
          <a:p>
            <a:r>
              <a:rPr lang="en-GB" sz="1800" dirty="0"/>
              <a:t>Form can be secured using input validation, input sanitation.</a:t>
            </a:r>
          </a:p>
          <a:p>
            <a:r>
              <a:rPr lang="en-GB" sz="1800" dirty="0"/>
              <a:t>Input validation – checks the input against a certain criteria before sending it to the server (blacklists / whitelists).</a:t>
            </a:r>
          </a:p>
          <a:p>
            <a:r>
              <a:rPr lang="en-GB" sz="1800" dirty="0"/>
              <a:t>Input sanitation – remove prohibited characters / strings from the input before sending it to the sever.</a:t>
            </a:r>
          </a:p>
          <a:p>
            <a:r>
              <a:rPr lang="en-GB" sz="1800" dirty="0"/>
              <a:t>A form manipulation attack involves finding a way past the safeguards to get data to the server it is unable to processes.</a:t>
            </a:r>
          </a:p>
          <a:p>
            <a:r>
              <a:rPr lang="en-GB" sz="1800" b="1" dirty="0"/>
              <a:t>Try to rank the batwest services more than 10 out of 10</a:t>
            </a:r>
          </a:p>
          <a:p>
            <a:r>
              <a:rPr lang="en-GB" sz="1800" b="1" dirty="0"/>
              <a:t>Try to cause a 500 internal sever error (hint – search page)</a:t>
            </a:r>
          </a:p>
        </p:txBody>
      </p:sp>
    </p:spTree>
    <p:extLst>
      <p:ext uri="{BB962C8B-B14F-4D97-AF65-F5344CB8AC3E}">
        <p14:creationId xmlns:p14="http://schemas.microsoft.com/office/powerpoint/2010/main" val="3342371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7EF20-BA95-65E9-CD45-6E8730D6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E92C-A431-87DA-5BE4-07F57A0E2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1020"/>
            <a:ext cx="10515600" cy="1325563"/>
          </a:xfrm>
        </p:spPr>
        <p:txBody>
          <a:bodyPr/>
          <a:lstStyle/>
          <a:p>
            <a:r>
              <a:rPr lang="en-GB" dirty="0"/>
              <a:t>Reveal answer?</a:t>
            </a:r>
          </a:p>
        </p:txBody>
      </p:sp>
    </p:spTree>
    <p:extLst>
      <p:ext uri="{BB962C8B-B14F-4D97-AF65-F5344CB8AC3E}">
        <p14:creationId xmlns:p14="http://schemas.microsoft.com/office/powerpoint/2010/main" val="1672793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8141A4-45A5-4F12-FA8C-3685FEE31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75" y="387610"/>
            <a:ext cx="3939881" cy="3467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52E671-1065-A163-77AD-51817FD65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78" y="3240589"/>
            <a:ext cx="6683319" cy="283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67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78364-F656-0B42-434A-AC3A2B0B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Four – SQL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EB2AC-53E7-DA16-760B-A910B675E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508"/>
            <a:ext cx="10515600" cy="5351923"/>
          </a:xfrm>
        </p:spPr>
        <p:txBody>
          <a:bodyPr>
            <a:normAutofit/>
          </a:bodyPr>
          <a:lstStyle/>
          <a:p>
            <a:r>
              <a:rPr lang="en-GB" sz="1800" dirty="0"/>
              <a:t>This is a more advanced type of form manipulation.</a:t>
            </a:r>
          </a:p>
          <a:p>
            <a:r>
              <a:rPr lang="en-GB" sz="1800" dirty="0"/>
              <a:t>SQL Injection is a web security vulnerability that occurs when an application incorporates untrusted user input directly into SQL queries without proper validation or parameterisation.</a:t>
            </a:r>
          </a:p>
          <a:p>
            <a:r>
              <a:rPr lang="en-GB" sz="1800" dirty="0"/>
              <a:t>Validation – checking the user input</a:t>
            </a:r>
          </a:p>
          <a:p>
            <a:r>
              <a:rPr lang="en-GB" sz="1800" dirty="0"/>
              <a:t>Parameterisation – ensures that user-provided values are treated strictly as data, not executable SQL code.</a:t>
            </a:r>
          </a:p>
          <a:p>
            <a:r>
              <a:rPr lang="en-GB" sz="1800" u="sng" dirty="0"/>
              <a:t>Example</a:t>
            </a:r>
            <a:r>
              <a:rPr lang="en-GB" sz="1800" dirty="0"/>
              <a:t> – search bar</a:t>
            </a:r>
          </a:p>
          <a:p>
            <a:endParaRPr lang="en-GB" sz="1800" u="sng" dirty="0"/>
          </a:p>
          <a:p>
            <a:r>
              <a:rPr lang="en-GB" sz="1800" dirty="0"/>
              <a:t>Backend SQL: SELECT name, description FROM products WHERE name = ‘</a:t>
            </a:r>
            <a:r>
              <a:rPr lang="en-GB" sz="1800" dirty="0">
                <a:solidFill>
                  <a:srgbClr val="00B050"/>
                </a:solidFill>
              </a:rPr>
              <a:t>Apples</a:t>
            </a:r>
            <a:r>
              <a:rPr lang="en-GB" sz="1800" dirty="0"/>
              <a:t>’;</a:t>
            </a:r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r>
              <a:rPr lang="en-GB" sz="1800" dirty="0"/>
              <a:t>The final command sent to the database becomes:</a:t>
            </a:r>
          </a:p>
          <a:p>
            <a:r>
              <a:rPr lang="en-GB" sz="1800" dirty="0"/>
              <a:t>SELECT name, description FROM products WHERE name = </a:t>
            </a:r>
            <a:r>
              <a:rPr lang="en-GB" sz="1800" dirty="0">
                <a:solidFill>
                  <a:srgbClr val="FF0000"/>
                </a:solidFill>
              </a:rPr>
              <a:t>‘’ UNION SELECT username, password FROM users</a:t>
            </a:r>
            <a:r>
              <a:rPr lang="en-GB" sz="1800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A0DF8D-5EA4-8283-331D-02A049491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890" y="2974384"/>
            <a:ext cx="5126746" cy="9092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31539-B53D-090B-87FC-27C1A4499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890" y="4496011"/>
            <a:ext cx="5372383" cy="80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883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F8618-2BCC-EF7E-47DF-D47D73940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283" y="157317"/>
            <a:ext cx="10016613" cy="747252"/>
          </a:xfrm>
        </p:spPr>
        <p:txBody>
          <a:bodyPr/>
          <a:lstStyle/>
          <a:p>
            <a:r>
              <a:rPr lang="en-GB" dirty="0"/>
              <a:t>Query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965D5B-8073-A0EC-5AA3-5B11B8B8C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05" y="904569"/>
            <a:ext cx="4961243" cy="27840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79102F-B7F3-C81D-52EF-89C09C4FB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05" y="4110422"/>
            <a:ext cx="9167654" cy="26443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E63985-5B89-4CBA-8D53-3BCAE363A897}"/>
              </a:ext>
            </a:extLst>
          </p:cNvPr>
          <p:cNvSpPr txBox="1"/>
          <p:nvPr/>
        </p:nvSpPr>
        <p:spPr>
          <a:xfrm>
            <a:off x="9468465" y="3955279"/>
            <a:ext cx="25822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Surprisingly, no elegant handling of this error.</a:t>
            </a:r>
          </a:p>
          <a:p>
            <a:r>
              <a:rPr lang="en-GB" dirty="0"/>
              <a:t>Which means this injection broke at least one layer of security.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587887-44C5-E054-C284-FEC0EDF48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631" y="157317"/>
            <a:ext cx="4895515" cy="27840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4DFB83-8C66-010A-4539-9454B17572A8}"/>
              </a:ext>
            </a:extLst>
          </p:cNvPr>
          <p:cNvSpPr txBox="1"/>
          <p:nvPr/>
        </p:nvSpPr>
        <p:spPr>
          <a:xfrm>
            <a:off x="9308959" y="5667095"/>
            <a:ext cx="3064042" cy="374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3C51B4"/>
                </a:solidFill>
                <a:effectLst/>
                <a:latin typeface="Segoe Sans Edge Text"/>
              </a:rPr>
              <a:t>289.36 million visits daily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9806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27DCA-2CED-F6BD-3BE5-5DFEC59BE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Four – SQL Injection (</a:t>
            </a:r>
            <a:r>
              <a:rPr lang="en-GB" dirty="0" err="1"/>
              <a:t>Cont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6EEBF-6E93-3A93-D0E0-AC401D460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441" y="1825625"/>
            <a:ext cx="8432494" cy="2303923"/>
          </a:xfrm>
        </p:spPr>
        <p:txBody>
          <a:bodyPr>
            <a:normAutofit/>
          </a:bodyPr>
          <a:lstStyle/>
          <a:p>
            <a:r>
              <a:rPr lang="en-GB" sz="1600" dirty="0"/>
              <a:t>SELECT * FROM users WHERE username = ‘</a:t>
            </a:r>
            <a:r>
              <a:rPr lang="en-GB" sz="1600" dirty="0">
                <a:solidFill>
                  <a:srgbClr val="00B050"/>
                </a:solidFill>
              </a:rPr>
              <a:t>admin1</a:t>
            </a:r>
            <a:r>
              <a:rPr lang="en-GB" sz="1600" dirty="0"/>
              <a:t>' AND password = ‘</a:t>
            </a:r>
            <a:r>
              <a:rPr lang="en-GB" sz="1600" dirty="0">
                <a:solidFill>
                  <a:srgbClr val="00B050"/>
                </a:solidFill>
              </a:rPr>
              <a:t>correctPassword123</a:t>
            </a:r>
            <a:r>
              <a:rPr lang="en-GB" sz="1600" dirty="0"/>
              <a:t>’;</a:t>
            </a:r>
          </a:p>
          <a:p>
            <a:r>
              <a:rPr lang="en-GB" sz="1600" dirty="0"/>
              <a:t>Your injection will be appended to the query at this point:</a:t>
            </a:r>
          </a:p>
          <a:p>
            <a:pPr lvl="1"/>
            <a:r>
              <a:rPr lang="en-GB" sz="1200" dirty="0">
                <a:solidFill>
                  <a:srgbClr val="00B050"/>
                </a:solidFill>
              </a:rPr>
              <a:t>SELECT * FROM users WHERE email = ‘admin1' AND password = ‘</a:t>
            </a:r>
            <a:r>
              <a:rPr lang="en-GB" sz="1200" dirty="0">
                <a:solidFill>
                  <a:srgbClr val="FF0000"/>
                </a:solidFill>
              </a:rPr>
              <a:t>SQL_INJECTION</a:t>
            </a:r>
          </a:p>
          <a:p>
            <a:r>
              <a:rPr lang="en-GB" sz="1600" dirty="0"/>
              <a:t>Can you find a way to make “ </a:t>
            </a:r>
            <a:r>
              <a:rPr lang="en-GB" sz="1600" i="1" dirty="0"/>
              <a:t>AND password = ‘User-input’ </a:t>
            </a:r>
            <a:r>
              <a:rPr lang="en-GB" sz="1600" dirty="0"/>
              <a:t>“ evaluate to true.</a:t>
            </a:r>
          </a:p>
          <a:p>
            <a:r>
              <a:rPr lang="en-GB" sz="1600" dirty="0"/>
              <a:t>Try to break the query down into sections.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988606-73DD-7B3E-B409-E792DBEA46AA}"/>
              </a:ext>
            </a:extLst>
          </p:cNvPr>
          <p:cNvSpPr/>
          <p:nvPr/>
        </p:nvSpPr>
        <p:spPr>
          <a:xfrm>
            <a:off x="103822" y="3545501"/>
            <a:ext cx="1917291" cy="3564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“Select where”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E3440A-00E7-C076-BB5D-6FB54E0324FC}"/>
              </a:ext>
            </a:extLst>
          </p:cNvPr>
          <p:cNvSpPr/>
          <p:nvPr/>
        </p:nvSpPr>
        <p:spPr>
          <a:xfrm>
            <a:off x="2247255" y="3545501"/>
            <a:ext cx="1573161" cy="3564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Condition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AAFCCB-92E9-6746-F106-64AD96828B30}"/>
              </a:ext>
            </a:extLst>
          </p:cNvPr>
          <p:cNvSpPr/>
          <p:nvPr/>
        </p:nvSpPr>
        <p:spPr>
          <a:xfrm>
            <a:off x="4046558" y="3565165"/>
            <a:ext cx="1573161" cy="3564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336A85-C5D2-9C3F-CDAC-952CD426B353}"/>
              </a:ext>
            </a:extLst>
          </p:cNvPr>
          <p:cNvSpPr/>
          <p:nvPr/>
        </p:nvSpPr>
        <p:spPr>
          <a:xfrm>
            <a:off x="5845861" y="3574996"/>
            <a:ext cx="1573161" cy="3564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Condition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18EB78-B116-7514-A36E-37EED590FFF1}"/>
              </a:ext>
            </a:extLst>
          </p:cNvPr>
          <p:cNvSpPr txBox="1"/>
          <p:nvPr/>
        </p:nvSpPr>
        <p:spPr>
          <a:xfrm>
            <a:off x="187396" y="4129548"/>
            <a:ext cx="7718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Try to login as admin1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FA2040-F4DB-4690-6C8F-8BBE5CA58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935" y="0"/>
            <a:ext cx="3596952" cy="5204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D07CBD-43FC-232F-91CA-E479CD7BAD21}"/>
              </a:ext>
            </a:extLst>
          </p:cNvPr>
          <p:cNvSpPr txBox="1"/>
          <p:nvPr/>
        </p:nvSpPr>
        <p:spPr>
          <a:xfrm>
            <a:off x="285135" y="4778477"/>
            <a:ext cx="7620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(Hint) – try thinking about extending condition 2 to include more Boolean logic</a:t>
            </a:r>
          </a:p>
        </p:txBody>
      </p:sp>
    </p:spTree>
    <p:extLst>
      <p:ext uri="{BB962C8B-B14F-4D97-AF65-F5344CB8AC3E}">
        <p14:creationId xmlns:p14="http://schemas.microsoft.com/office/powerpoint/2010/main" val="2608782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45482-F207-55DF-EC95-7010C3F41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C2209-2B8C-C97D-CA3F-A91FF4EE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1020"/>
            <a:ext cx="10515600" cy="1325563"/>
          </a:xfrm>
        </p:spPr>
        <p:txBody>
          <a:bodyPr/>
          <a:lstStyle/>
          <a:p>
            <a:r>
              <a:rPr lang="en-GB" dirty="0"/>
              <a:t>Reveal answer?</a:t>
            </a:r>
          </a:p>
        </p:txBody>
      </p:sp>
    </p:spTree>
    <p:extLst>
      <p:ext uri="{BB962C8B-B14F-4D97-AF65-F5344CB8AC3E}">
        <p14:creationId xmlns:p14="http://schemas.microsoft.com/office/powerpoint/2010/main" val="2357453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CA29DB-8DA7-4FF5-0D1D-F586EF013C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80" t="9817" r="33984" b="18242"/>
          <a:stretch>
            <a:fillRect/>
          </a:stretch>
        </p:blipFill>
        <p:spPr>
          <a:xfrm>
            <a:off x="371788" y="80387"/>
            <a:ext cx="4290647" cy="55585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24D071-4EEE-04F5-FACC-84ED77F178A0}"/>
              </a:ext>
            </a:extLst>
          </p:cNvPr>
          <p:cNvSpPr txBox="1"/>
          <p:nvPr/>
        </p:nvSpPr>
        <p:spPr>
          <a:xfrm>
            <a:off x="6096000" y="2444126"/>
            <a:ext cx="4200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Close the string,</a:t>
            </a:r>
          </a:p>
          <a:p>
            <a:r>
              <a:rPr lang="en-GB" dirty="0"/>
              <a:t>Extend the Boolean logic </a:t>
            </a:r>
          </a:p>
        </p:txBody>
      </p:sp>
    </p:spTree>
    <p:extLst>
      <p:ext uri="{BB962C8B-B14F-4D97-AF65-F5344CB8AC3E}">
        <p14:creationId xmlns:p14="http://schemas.microsoft.com/office/powerpoint/2010/main" val="3862386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92C36-643C-C3AE-8B94-185D1DA5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Four – SQL Injection, final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43D2E-A76A-B275-116B-64D464FE2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7876673" cy="4351338"/>
          </a:xfrm>
        </p:spPr>
        <p:txBody>
          <a:bodyPr>
            <a:normAutofit/>
          </a:bodyPr>
          <a:lstStyle/>
          <a:p>
            <a:r>
              <a:rPr lang="en-GB" sz="1600" dirty="0"/>
              <a:t>Backend: UPDATE users SET tier = ‘Gold’ WHERE upgrade-code = ‘[USER_INPUT]’;</a:t>
            </a:r>
          </a:p>
          <a:p>
            <a:endParaRPr lang="en-GB" sz="1600" dirty="0"/>
          </a:p>
          <a:p>
            <a:r>
              <a:rPr lang="en-GB" sz="1600" b="1" dirty="0"/>
              <a:t>Using the form from the Tier page, try to delete the table called ‘users’</a:t>
            </a:r>
            <a:endParaRPr lang="en-GB" sz="1600" dirty="0"/>
          </a:p>
          <a:p>
            <a:endParaRPr lang="en-GB" sz="1600" b="1" dirty="0"/>
          </a:p>
          <a:p>
            <a:r>
              <a:rPr lang="en-GB" sz="1600" dirty="0"/>
              <a:t>(Hint) – the SQL command to delete a table is ‘DROP TABLE’</a:t>
            </a:r>
          </a:p>
          <a:p>
            <a:r>
              <a:rPr lang="en-GB" sz="1600" dirty="0"/>
              <a:t>(Hint) - For this injection, you need to execute your injection as a separate query, rather than appending to an existing query – use a semi colon to do this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AA35C9-1825-5DDF-250C-236996276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648" y="1313947"/>
            <a:ext cx="3729764" cy="240782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2C24F98-FD9C-60CC-81BB-9AE37E767FF8}"/>
              </a:ext>
            </a:extLst>
          </p:cNvPr>
          <p:cNvSpPr/>
          <p:nvPr/>
        </p:nvSpPr>
        <p:spPr>
          <a:xfrm>
            <a:off x="696021" y="4712369"/>
            <a:ext cx="1573161" cy="3564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Query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8ED5F8-743D-B1C8-E92C-8ACEA70B2B8A}"/>
              </a:ext>
            </a:extLst>
          </p:cNvPr>
          <p:cNvSpPr/>
          <p:nvPr/>
        </p:nvSpPr>
        <p:spPr>
          <a:xfrm>
            <a:off x="2508778" y="4708358"/>
            <a:ext cx="1573161" cy="3564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05A654-6809-FF8B-EBB6-C4E3A3FC7F71}"/>
              </a:ext>
            </a:extLst>
          </p:cNvPr>
          <p:cNvSpPr/>
          <p:nvPr/>
        </p:nvSpPr>
        <p:spPr>
          <a:xfrm>
            <a:off x="4409766" y="4708358"/>
            <a:ext cx="1573161" cy="3564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Query 2</a:t>
            </a:r>
          </a:p>
        </p:txBody>
      </p:sp>
    </p:spTree>
    <p:extLst>
      <p:ext uri="{BB962C8B-B14F-4D97-AF65-F5344CB8AC3E}">
        <p14:creationId xmlns:p14="http://schemas.microsoft.com/office/powerpoint/2010/main" val="1794991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27C11-A457-B68C-520D-FB0A7670A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1DCF-A59E-12DA-2F59-D33C4313D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1020"/>
            <a:ext cx="10515600" cy="1325563"/>
          </a:xfrm>
        </p:spPr>
        <p:txBody>
          <a:bodyPr/>
          <a:lstStyle/>
          <a:p>
            <a:r>
              <a:rPr lang="en-GB" dirty="0"/>
              <a:t>Reveal answer?</a:t>
            </a:r>
          </a:p>
        </p:txBody>
      </p:sp>
    </p:spTree>
    <p:extLst>
      <p:ext uri="{BB962C8B-B14F-4D97-AF65-F5344CB8AC3E}">
        <p14:creationId xmlns:p14="http://schemas.microsoft.com/office/powerpoint/2010/main" val="1738977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8BFB2C-FC44-76FA-64A0-13B16EFBA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10" t="34132" r="31593" b="12675"/>
          <a:stretch>
            <a:fillRect/>
          </a:stretch>
        </p:blipFill>
        <p:spPr>
          <a:xfrm>
            <a:off x="875072" y="894302"/>
            <a:ext cx="4835202" cy="43450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9BBED1-41EA-E4A1-2521-2D1EDF4F44E3}"/>
              </a:ext>
            </a:extLst>
          </p:cNvPr>
          <p:cNvSpPr txBox="1"/>
          <p:nvPr/>
        </p:nvSpPr>
        <p:spPr>
          <a:xfrm>
            <a:off x="6260123" y="2160395"/>
            <a:ext cx="493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Semi colon completes the first intended query,</a:t>
            </a:r>
          </a:p>
          <a:p>
            <a:r>
              <a:rPr lang="en-GB" dirty="0"/>
              <a:t>Can you then inject your own</a:t>
            </a:r>
          </a:p>
        </p:txBody>
      </p:sp>
    </p:spTree>
    <p:extLst>
      <p:ext uri="{BB962C8B-B14F-4D97-AF65-F5344CB8AC3E}">
        <p14:creationId xmlns:p14="http://schemas.microsoft.com/office/powerpoint/2010/main" val="383737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5807-5E0E-1117-68A1-E68DB2F3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Thanks for 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048FC-5C30-C5B8-2B48-6BFC08898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Please complete the post-lesson quiz</a:t>
            </a:r>
          </a:p>
        </p:txBody>
      </p:sp>
    </p:spTree>
    <p:extLst>
      <p:ext uri="{BB962C8B-B14F-4D97-AF65-F5344CB8AC3E}">
        <p14:creationId xmlns:p14="http://schemas.microsoft.com/office/powerpoint/2010/main" val="2039282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793</Words>
  <Application>Microsoft Office PowerPoint</Application>
  <PresentationFormat>Widescreen</PresentationFormat>
  <Paragraphs>79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Segoe Sans Edge Text</vt:lpstr>
      <vt:lpstr>Aptos</vt:lpstr>
      <vt:lpstr>Aptos Display</vt:lpstr>
      <vt:lpstr>Arial</vt:lpstr>
      <vt:lpstr>Office Theme</vt:lpstr>
      <vt:lpstr>Website security – through exploiting vulnerabilities</vt:lpstr>
      <vt:lpstr>Task One – Endpoints </vt:lpstr>
      <vt:lpstr>Reveal answer?</vt:lpstr>
      <vt:lpstr>PowerPoint Presentation</vt:lpstr>
      <vt:lpstr>Task Two – URL Parameters (Query parameters)</vt:lpstr>
      <vt:lpstr>Reveal answer?</vt:lpstr>
      <vt:lpstr>PowerPoint Presentation</vt:lpstr>
      <vt:lpstr>Task Three – Form manipulation</vt:lpstr>
      <vt:lpstr>Reveal answer?</vt:lpstr>
      <vt:lpstr>PowerPoint Presentation</vt:lpstr>
      <vt:lpstr>Task Four – SQL Injection</vt:lpstr>
      <vt:lpstr>Query results</vt:lpstr>
      <vt:lpstr>Task Four – SQL Injection (Cont)</vt:lpstr>
      <vt:lpstr>Reveal answer?</vt:lpstr>
      <vt:lpstr>PowerPoint Presentation</vt:lpstr>
      <vt:lpstr>Task Four – SQL Injection, final task</vt:lpstr>
      <vt:lpstr>Reveal answer?</vt:lpstr>
      <vt:lpstr>PowerPoint Presentation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Dominic Beaumont</dc:creator>
  <cp:lastModifiedBy>Dominic Beaumont</cp:lastModifiedBy>
  <cp:revision>38</cp:revision>
  <dcterms:created xsi:type="dcterms:W3CDTF">2026-03-12T11:24:01Z</dcterms:created>
  <dcterms:modified xsi:type="dcterms:W3CDTF">2026-03-16T23:45:18Z</dcterms:modified>
</cp:coreProperties>
</file>